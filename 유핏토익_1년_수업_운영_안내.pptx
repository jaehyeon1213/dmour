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유핏토익 1년 수업 운영 안내 — 시즌 1(1~6월)과 시즌 2(7~12월)로 나누어 운영됩니다.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시즌마다 라이브 3개월 + VOD 3개월. VOD는 월 순서가 아니라 짝수달·홀수달 구분으로 제공됩니다.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시즌 1: 4월 VOD = 2월 영상, 5월 VOD = 1월 영상, 6월은 수강 이력 확인 후 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시즌 2: 10월 VOD = 8월 영상, 11월 VOD = 7월 영상, 12월은 수강 이력 확인 후 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연간 일정 요약표. 라이브 6개월 + VOD 6개월.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중복 방지 원칙: 짝수달↔짝수달, 홀수달↔홀수달을 유지하며 겹치지 않는 수업으로 변경.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케이스 3처럼 겹치지 않으면 변경 없이 그대로 수강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상시 할인 없음. VOD 달 기본 5%, 4월·10월은 추가 5%로 총 10% 수준의 최대 혜택.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4월·10월에 시작해 쉬지 않고 연속 수강하면 다음 라이브 수업까지 할인 혜택이 유지됩니다.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상황에 따른 변경 가능성 안내 및 중복 수업 변경 요청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481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YOUFIT TOEIC  ·  ANNUAL CURRICULUM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6868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유핏토익 1년 수업 운영 안내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2852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1과 시즌 2로 나누어 운영되는 라이브 · VOD 수업과 수강료 혜택 안내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D948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794053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D9481F"/>
          </a:solidFill>
          <a:ln/>
        </p:spPr>
      </p:sp>
      <p:sp>
        <p:nvSpPr>
          <p:cNvPr id="8" name="Text 6"/>
          <p:cNvSpPr/>
          <p:nvPr/>
        </p:nvSpPr>
        <p:spPr>
          <a:xfrm>
            <a:off x="1794053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19426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D9481F"/>
          </a:solidFill>
          <a:ln/>
        </p:spPr>
      </p:sp>
      <p:sp>
        <p:nvSpPr>
          <p:cNvPr id="10" name="Text 8"/>
          <p:cNvSpPr/>
          <p:nvPr/>
        </p:nvSpPr>
        <p:spPr>
          <a:xfrm>
            <a:off x="2719426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44798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0E7C77"/>
          </a:solidFill>
          <a:ln/>
        </p:spPr>
      </p:sp>
      <p:sp>
        <p:nvSpPr>
          <p:cNvPr id="12" name="Text 10"/>
          <p:cNvSpPr/>
          <p:nvPr/>
        </p:nvSpPr>
        <p:spPr>
          <a:xfrm>
            <a:off x="3644798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0171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0E7C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0171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95544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0E7C77"/>
          </a:solidFill>
          <a:ln/>
        </p:spPr>
      </p:sp>
      <p:sp>
        <p:nvSpPr>
          <p:cNvPr id="16" name="Text 14"/>
          <p:cNvSpPr/>
          <p:nvPr/>
        </p:nvSpPr>
        <p:spPr>
          <a:xfrm>
            <a:off x="5495544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20917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D948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20917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46290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D9481F"/>
          </a:solidFill>
          <a:ln/>
        </p:spPr>
      </p:sp>
      <p:sp>
        <p:nvSpPr>
          <p:cNvPr id="20" name="Text 18"/>
          <p:cNvSpPr/>
          <p:nvPr/>
        </p:nvSpPr>
        <p:spPr>
          <a:xfrm>
            <a:off x="7346290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71662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D9481F"/>
          </a:solidFill>
          <a:ln/>
        </p:spPr>
      </p:sp>
      <p:sp>
        <p:nvSpPr>
          <p:cNvPr id="22" name="Text 20"/>
          <p:cNvSpPr/>
          <p:nvPr/>
        </p:nvSpPr>
        <p:spPr>
          <a:xfrm>
            <a:off x="8271662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97035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0E7C77"/>
          </a:solidFill>
          <a:ln/>
        </p:spPr>
      </p:sp>
      <p:sp>
        <p:nvSpPr>
          <p:cNvPr id="24" name="Text 22"/>
          <p:cNvSpPr/>
          <p:nvPr/>
        </p:nvSpPr>
        <p:spPr>
          <a:xfrm>
            <a:off x="9197035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122408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0E7C77"/>
          </a:solidFill>
          <a:ln/>
        </p:spPr>
      </p:sp>
      <p:sp>
        <p:nvSpPr>
          <p:cNvPr id="26" name="Text 24"/>
          <p:cNvSpPr/>
          <p:nvPr/>
        </p:nvSpPr>
        <p:spPr>
          <a:xfrm>
            <a:off x="10122408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047781" y="4434840"/>
            <a:ext cx="841248" cy="786384"/>
          </a:xfrm>
          <a:prstGeom prst="roundRect">
            <a:avLst>
              <a:gd name="adj" fmla="val 18605"/>
            </a:avLst>
          </a:prstGeom>
          <a:solidFill>
            <a:srgbClr val="0E7C77"/>
          </a:solidFill>
          <a:ln/>
        </p:spPr>
      </p:sp>
      <p:sp>
        <p:nvSpPr>
          <p:cNvPr id="28" name="Text 26"/>
          <p:cNvSpPr/>
          <p:nvPr/>
        </p:nvSpPr>
        <p:spPr>
          <a:xfrm>
            <a:off x="11047781" y="4434840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68680" y="5532120"/>
            <a:ext cx="173736" cy="173736"/>
          </a:xfrm>
          <a:prstGeom prst="ellipse">
            <a:avLst/>
          </a:prstGeom>
          <a:solidFill>
            <a:srgbClr val="D9481F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5449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수업  1~3월 · 7~9월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00600" y="5532120"/>
            <a:ext cx="173736" cy="173736"/>
          </a:xfrm>
          <a:prstGeom prst="ellipse">
            <a:avLst/>
          </a:prstGeom>
          <a:solidFill>
            <a:srgbClr val="0E7C77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5449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 수업  4~6월 · 10~12월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운영 구조 한눈에 보기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유핏토익의 1년 수업은 시즌 1과 시즌 2로 나누어 운영됩니다.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88036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– 6월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523744"/>
            <a:ext cx="914400" cy="347472"/>
          </a:xfrm>
          <a:prstGeom prst="roundRect">
            <a:avLst>
              <a:gd name="adj" fmla="val 105263"/>
            </a:avLst>
          </a:prstGeom>
          <a:solidFill>
            <a:srgbClr val="FCEDE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237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23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· 2월 · 3월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2953512"/>
            <a:ext cx="914400" cy="347472"/>
          </a:xfrm>
          <a:prstGeom prst="roundRect">
            <a:avLst>
              <a:gd name="adj" fmla="val 105263"/>
            </a:avLst>
          </a:prstGeom>
          <a:solidFill>
            <a:srgbClr val="E2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53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953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· 5월 · 6월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1536192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1828800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79208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68680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– 12월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2523744"/>
            <a:ext cx="914400" cy="347472"/>
          </a:xfrm>
          <a:prstGeom prst="roundRect">
            <a:avLst>
              <a:gd name="adj" fmla="val 105263"/>
            </a:avLst>
          </a:prstGeom>
          <a:solidFill>
            <a:srgbClr val="FCEDE7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5237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2523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· 8월 · 9월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75120" y="2953512"/>
            <a:ext cx="914400" cy="347472"/>
          </a:xfrm>
          <a:prstGeom prst="roundRect">
            <a:avLst>
              <a:gd name="adj" fmla="val 105263"/>
            </a:avLst>
          </a:prstGeom>
          <a:solidFill>
            <a:srgbClr val="E2F2F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953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6680" y="2953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· 11월 · 12월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087368"/>
            <a:ext cx="457200" cy="457200"/>
          </a:xfrm>
          <a:prstGeom prst="ellipse">
            <a:avLst/>
          </a:prstGeom>
          <a:solidFill>
            <a:srgbClr val="D9481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3개월은 라이브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503834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시즌의 앞 3개월은 라이브 수업으로 진행됩니다.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343400" y="3794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4087368"/>
            <a:ext cx="457200" cy="457200"/>
          </a:xfrm>
          <a:prstGeom prst="ellipse">
            <a:avLst/>
          </a:prstGeom>
          <a:solidFill>
            <a:srgbClr val="0E7C77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3개월은 VOD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63440" y="503834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3개월은 앞서 진행된 라이브 수업을 활용한 VOD 수업으로 진행됩니다.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3794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58200" y="408736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8" name="Text 36"/>
          <p:cNvSpPr/>
          <p:nvPr/>
        </p:nvSpPr>
        <p:spPr>
          <a:xfrm>
            <a:off x="84582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짝수달 · 홀수달 구분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58200" y="503834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VOD는 단순히 월 순서대로 제공되지 않고, 짝수달과 홀수달을 구분하여 제공됩니다.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1 ｜ 1월 – 6월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1~3월은 라이브 수업, 4~6월은 앞서 진행된 라이브 수업을 활용한 VOD 수업으로 진행됩니다.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86584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/>
        </p:spPr>
      </p:sp>
      <p:sp>
        <p:nvSpPr>
          <p:cNvPr id="8" name="Text 6"/>
          <p:cNvSpPr/>
          <p:nvPr/>
        </p:nvSpPr>
        <p:spPr>
          <a:xfrm>
            <a:off x="2386584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86584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70248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53912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2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6153912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53912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37576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2F2F0"/>
          </a:solidFill>
          <a:ln/>
        </p:spPr>
      </p:sp>
      <p:sp>
        <p:nvSpPr>
          <p:cNvPr id="17" name="Text 15"/>
          <p:cNvSpPr/>
          <p:nvPr/>
        </p:nvSpPr>
        <p:spPr>
          <a:xfrm>
            <a:off x="8037576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37576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21240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2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21240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880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 수업으로 제공되는 영상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310128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547872"/>
            <a:ext cx="1234440" cy="329184"/>
          </a:xfrm>
          <a:prstGeom prst="roundRect">
            <a:avLst>
              <a:gd name="adj" fmla="val 111111"/>
            </a:avLst>
          </a:prstGeom>
          <a:solidFill>
            <a:srgbClr val="E2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VOD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9959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라이브 수업 영상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343400" y="3310128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3547872"/>
            <a:ext cx="1234440" cy="329184"/>
          </a:xfrm>
          <a:prstGeom prst="roundRect">
            <a:avLst>
              <a:gd name="adj" fmla="val 111111"/>
            </a:avLst>
          </a:prstGeom>
          <a:solidFill>
            <a:srgbClr val="E2F2F0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VOD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36008" y="39959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라이브 수업 영상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138160" y="3310128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30768" y="3547872"/>
            <a:ext cx="1234440" cy="329184"/>
          </a:xfrm>
          <a:prstGeom prst="roundRect">
            <a:avLst>
              <a:gd name="adj" fmla="val 111111"/>
            </a:avLst>
          </a:prstGeom>
          <a:solidFill>
            <a:srgbClr val="E2F2F0"/>
          </a:solidFill>
          <a:ln/>
        </p:spPr>
      </p:sp>
      <p:sp>
        <p:nvSpPr>
          <p:cNvPr id="33" name="Text 31"/>
          <p:cNvSpPr/>
          <p:nvPr/>
        </p:nvSpPr>
        <p:spPr>
          <a:xfrm>
            <a:off x="8430768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VOD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30768" y="39959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이력과 운영 상황에 따라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겹치지 않는 수업 영상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6FA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983480"/>
            <a:ext cx="10296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4월에는 1월 영상이 아닌 2월 영상이 제공되고, 5월에는 2월 영상이 아닌 1월 영상이 제공됩니다.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6월에는 기존에 들었던 수업과 겹치지 않도록 수강 이력을 확인한 뒤 적합한 수업을 제공합니다.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2 ｜ 7월 – 12월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7~9월은 라이브 수업, 10~12월은 앞서 진행된 라이브 수업을 활용한 VOD 수업으로 진행됩니다.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86584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/>
        </p:spPr>
      </p:sp>
      <p:sp>
        <p:nvSpPr>
          <p:cNvPr id="8" name="Text 6"/>
          <p:cNvSpPr/>
          <p:nvPr/>
        </p:nvSpPr>
        <p:spPr>
          <a:xfrm>
            <a:off x="2386584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86584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70248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53912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2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6153912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53912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37576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2F2F0"/>
          </a:solidFill>
          <a:ln/>
        </p:spPr>
      </p:sp>
      <p:sp>
        <p:nvSpPr>
          <p:cNvPr id="17" name="Text 15"/>
          <p:cNvSpPr/>
          <p:nvPr/>
        </p:nvSpPr>
        <p:spPr>
          <a:xfrm>
            <a:off x="8037576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37576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21240" y="1481328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2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21240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880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 수업으로 제공되는 영상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310128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547872"/>
            <a:ext cx="1234440" cy="329184"/>
          </a:xfrm>
          <a:prstGeom prst="roundRect">
            <a:avLst>
              <a:gd name="adj" fmla="val 111111"/>
            </a:avLst>
          </a:prstGeom>
          <a:solidFill>
            <a:srgbClr val="E2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VOD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9959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라이브 수업 영상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343400" y="3310128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3547872"/>
            <a:ext cx="1234440" cy="329184"/>
          </a:xfrm>
          <a:prstGeom prst="roundRect">
            <a:avLst>
              <a:gd name="adj" fmla="val 111111"/>
            </a:avLst>
          </a:prstGeom>
          <a:solidFill>
            <a:srgbClr val="E2F2F0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VOD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36008" y="39959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라이브 수업 영상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138160" y="3310128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30768" y="3547872"/>
            <a:ext cx="1234440" cy="329184"/>
          </a:xfrm>
          <a:prstGeom prst="roundRect">
            <a:avLst>
              <a:gd name="adj" fmla="val 111111"/>
            </a:avLst>
          </a:prstGeom>
          <a:solidFill>
            <a:srgbClr val="E2F2F0"/>
          </a:solidFill>
          <a:ln/>
        </p:spPr>
      </p:sp>
      <p:sp>
        <p:nvSpPr>
          <p:cNvPr id="33" name="Text 31"/>
          <p:cNvSpPr/>
          <p:nvPr/>
        </p:nvSpPr>
        <p:spPr>
          <a:xfrm>
            <a:off x="8430768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VOD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30768" y="399592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이력과 운영 상황에 따라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겹치지 않는 수업 영상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6FA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983480"/>
            <a:ext cx="10296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10월에는 7월 영상이 아닌 8월 영상이 제공되고, 11월에는 8월 영상이 아닌 7월 영상이 제공됩니다.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12월에도 이전에 들었던 수업과 겹치지 않도록 수강 이력을 확인한 뒤 수업을 배정합니다.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연간 수업 일정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월별 수업 방식과 실제로 제공되는 수업입니다.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1 ｜ 1월 – 6월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577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4300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제공되는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48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1월 라이브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48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2월 라이브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48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3월 라이브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2월 라이브 영상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1월 라이브 영상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이력에 따라 겹치지 않는 영상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481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2 ｜ 7월 – 12월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5577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4300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제공되는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48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7월 라이브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48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8월 라이브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48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9월 라이브 수업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8월 라이브 영상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7월 라이브 영상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이력에 따라 겹치지 않는 영상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9" name="Text 5"/>
          <p:cNvSpPr/>
          <p:nvPr/>
        </p:nvSpPr>
        <p:spPr>
          <a:xfrm>
            <a:off x="932688" y="5349240"/>
            <a:ext cx="1029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4·5월과 10·11월의 VOD는 짝수달 · 홀수달을 구분해 제공되며, 6월과 12월은 수강 이력을 확인해 겹치지 않는 영상을 배정합니다.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이전에 들었던 수업과 겹치지 않도록 제공합니다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재수강생이 같은 수업을 반복해서 듣지 않도록 기존 수강 이력을 확인해 수업을 제공합니다.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3F6FA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481328"/>
            <a:ext cx="10296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수업을 변경할 때는 가능하면 짝수달과 홀수달의 구분을 유지합니다.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761488"/>
            <a:ext cx="475488" cy="475488"/>
          </a:xfrm>
          <a:prstGeom prst="ellipse">
            <a:avLst/>
          </a:prstGeom>
          <a:solidFill>
            <a:srgbClr val="0E7C7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짝수달 수업을 들었던 경우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36941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짝수달 수업으로 변경해드립니다.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48716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761488"/>
            <a:ext cx="475488" cy="475488"/>
          </a:xfrm>
          <a:prstGeom prst="ellipse">
            <a:avLst/>
          </a:prstGeom>
          <a:solidFill>
            <a:srgbClr val="D9481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홀수달 수업을 들었던 경우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63440" y="36941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홀수달 수업으로 변경해드립니다.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48716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761488"/>
            <a:ext cx="475488" cy="47548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33649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수강 이력과 겹치는 경우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58200" y="36941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이력 확인 후 겹치지 않는 수업으로 변경해드립니다.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7731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배정된 수업이 이전에 들었던 수업과 겹치는 경우 말씀해주세요.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05840" y="51937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이력을 확인한 뒤 겹치지 않는 수업으로 바로 변경해드립니다.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사례로 보는 수강 이력 확인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VOD가 이전에 들었던 수업과 겹치는지 확인한 뒤 안내해드립니다.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92224"/>
            <a:ext cx="1143000" cy="329184"/>
          </a:xfrm>
          <a:prstGeom prst="roundRect">
            <a:avLst>
              <a:gd name="adj" fmla="val 111111"/>
            </a:avLst>
          </a:prstGeom>
          <a:solidFill>
            <a:srgbClr val="F3F6F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922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2860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수강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52374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라이브 수업 수강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1821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재수강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34198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11월에 다시 수강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3840480"/>
            <a:ext cx="2935224" cy="402336"/>
          </a:xfrm>
          <a:prstGeom prst="roundRect">
            <a:avLst>
              <a:gd name="adj" fmla="val 13636"/>
            </a:avLst>
          </a:prstGeom>
          <a:solidFill>
            <a:srgbClr val="F3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84048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기본 VOD = 7월 영상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4334256"/>
            <a:ext cx="2935224" cy="402336"/>
          </a:xfrm>
          <a:prstGeom prst="roundRect">
            <a:avLst>
              <a:gd name="adj" fmla="val 13636"/>
            </a:avLst>
          </a:prstGeom>
          <a:solidFill>
            <a:srgbClr val="FCEDE7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33425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→ 다른 달 수업으로 변경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1536192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6008" y="1792224"/>
            <a:ext cx="1143000" cy="329184"/>
          </a:xfrm>
          <a:prstGeom prst="roundRect">
            <a:avLst>
              <a:gd name="adj" fmla="val 111111"/>
            </a:avLst>
          </a:prstGeom>
          <a:solidFill>
            <a:srgbClr val="F3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36008" y="17922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6008" y="22860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수강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36008" y="252374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라이브 수업 수강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36008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36008" y="31821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재수강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36008" y="34198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10월에 다시 수강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36008" y="3840480"/>
            <a:ext cx="2935224" cy="402336"/>
          </a:xfrm>
          <a:prstGeom prst="roundRect">
            <a:avLst>
              <a:gd name="adj" fmla="val 13636"/>
            </a:avLst>
          </a:prstGeom>
          <a:solidFill>
            <a:srgbClr val="F3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4745736" y="384048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기본 VOD = 8월 영상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36008" y="4334256"/>
            <a:ext cx="2935224" cy="402336"/>
          </a:xfrm>
          <a:prstGeom prst="roundRect">
            <a:avLst>
              <a:gd name="adj" fmla="val 13636"/>
            </a:avLst>
          </a:prstGeom>
          <a:solidFill>
            <a:srgbClr val="FCEDE7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433425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4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→ 다른 달 수업으로 변경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1536192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C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30768" y="1792224"/>
            <a:ext cx="1143000" cy="329184"/>
          </a:xfrm>
          <a:prstGeom prst="roundRect">
            <a:avLst>
              <a:gd name="adj" fmla="val 111111"/>
            </a:avLst>
          </a:prstGeom>
          <a:solidFill>
            <a:srgbClr val="F3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8430768" y="17922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0768" y="22860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수강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30768" y="252374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라이브 수업 수강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30768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30768" y="31821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재수강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30768" y="34198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11월에 다시 수강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430768" y="3840480"/>
            <a:ext cx="2935224" cy="402336"/>
          </a:xfrm>
          <a:prstGeom prst="roundRect">
            <a:avLst>
              <a:gd name="adj" fmla="val 13636"/>
            </a:avLst>
          </a:prstGeom>
          <a:solidFill>
            <a:srgbClr val="F3F6FA"/>
          </a:solidFill>
          <a:ln/>
        </p:spPr>
      </p:sp>
      <p:sp>
        <p:nvSpPr>
          <p:cNvPr id="37" name="Text 35"/>
          <p:cNvSpPr/>
          <p:nvPr/>
        </p:nvSpPr>
        <p:spPr>
          <a:xfrm>
            <a:off x="8540496" y="384048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기본 VOD = 7월 영상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430768" y="4334256"/>
            <a:ext cx="2935224" cy="402336"/>
          </a:xfrm>
          <a:prstGeom prst="roundRect">
            <a:avLst>
              <a:gd name="adj" fmla="val 13636"/>
            </a:avLst>
          </a:prstGeom>
          <a:solidFill>
            <a:srgbClr val="E2F2F0"/>
          </a:solidFill>
          <a:ln/>
        </p:spPr>
      </p:sp>
      <p:sp>
        <p:nvSpPr>
          <p:cNvPr id="39" name="Text 37"/>
          <p:cNvSpPr/>
          <p:nvPr/>
        </p:nvSpPr>
        <p:spPr>
          <a:xfrm>
            <a:off x="8540496" y="433425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없음 → 그대로 수강 가능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3F6FA"/>
          </a:solidFill>
          <a:ln/>
        </p:spPr>
      </p:sp>
      <p:sp>
        <p:nvSpPr>
          <p:cNvPr id="41" name="Text 39"/>
          <p:cNvSpPr/>
          <p:nvPr/>
        </p:nvSpPr>
        <p:spPr>
          <a:xfrm>
            <a:off x="932688" y="5166360"/>
            <a:ext cx="10296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겹치는 수업이 있는 경우에는 기존에 듣지 않았던 다른 달의 수업으로 변경해드리고, 겹치지 않는 경우에는 배정된 수업을 그대로 수강하실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 수강료 할인 안내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유핏토익은 상시로 수강료 할인 이벤트를 진행하지 않습니다.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BF2DC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481328"/>
            <a:ext cx="1029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1년에 두 번, 각 시즌의 VOD 수업이 처음 시작되는 달에 가장 큰 할인 혜택이 적용됩니다.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24612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 기본 할인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393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 수업이 진행되는 달에는 기본 5% 할인이 적용됩니다.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3308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1 VOD  4월 · 5월 · 6월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2 VOD  10월 · 11월 · 12월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395728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FBF2D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651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905256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· 10월 최대 할인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6393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VOD가 처음 시작되는 4월과 10월은 기본 5% + 추가 5%가 적용됩니다.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413308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 시즌 1 VOD 첫 오픈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 시즌 2 VOD 첫 오픈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38928"/>
            <a:ext cx="10149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4월과 10월은 유핏토익의 연간 수강 일정 중 수강료가 가장 저렴한 달입니다.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수강 시 할인 혜택이 유지됩니다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꾸준히 공부하는 학생분들의 수강료가 다음 달부터 갑자기 높아지지 않도록 연속 수강 혜택을 운영합니다.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1 ｜ 4월 시작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BF2D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VOD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60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5% + 추가 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216712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216712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VOD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2660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216712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16712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VOD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2660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15400" y="216712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326880" y="216712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331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라이브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55480" y="2660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2 ｜ 10월 시작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BF2D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VOD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398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5% + 추가 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390448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474720" y="390448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0690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VOD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03320" y="4398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90448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00800" y="390448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40690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VOD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29400" y="4398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15400" y="390448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326880" y="3904488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/>
        </p:spPr>
      </p:sp>
      <p:sp>
        <p:nvSpPr>
          <p:cNvPr id="34" name="Text 32"/>
          <p:cNvSpPr/>
          <p:nvPr/>
        </p:nvSpPr>
        <p:spPr>
          <a:xfrm>
            <a:off x="9555480" y="40690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라이브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55480" y="4398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2303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233F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5230368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또는 10월에 수강을 시작한 뒤 연속으로 수강하면, 수강료가 다시 높아지는 부담 없이 공부를 이어갈 수 있습니다.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6692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확인해주세요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984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안내된 연간 일정은 유핏토익의 기본 운영 계획입니다.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27395F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194560"/>
            <a:ext cx="420624" cy="420624"/>
          </a:xfrm>
          <a:prstGeom prst="ellipse">
            <a:avLst/>
          </a:prstGeom>
          <a:solidFill>
            <a:srgbClr val="7FC8C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및 수업 방식 변경 가능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88720" y="27066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1·2·3월과 7·8·9월은 라이브 수업으로 안내되지만, 대형 프로젝트 진행이나 내부 운영 상황에 따라 일부 일정 또는 수업 방식이 변경될 수 있습니다.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27395F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2194560"/>
            <a:ext cx="420624" cy="420624"/>
          </a:xfrm>
          <a:prstGeom prst="ellipse">
            <a:avLst/>
          </a:prstGeom>
          <a:solidFill>
            <a:srgbClr val="7FC8C3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21945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· 12월 VOD는 유동적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12280" y="27066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6월과 12월에 제공되는 VOD 영상은 해당 시기의 수업 운영 상황과 학생별 수강 이력에 따라 달라질 수 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79476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2739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069080"/>
            <a:ext cx="420624" cy="420624"/>
          </a:xfrm>
          <a:prstGeom prst="ellipse">
            <a:avLst/>
          </a:prstGeom>
          <a:solidFill>
            <a:srgbClr val="7FC8C3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40690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시 사전 안내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458114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변경되는 내용이 있을 경우 수강생분들이 혼란을 겪지 않도록 미리 안내드리겠습니다.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79476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27395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4069080"/>
            <a:ext cx="420624" cy="420624"/>
          </a:xfrm>
          <a:prstGeom prst="ellipse">
            <a:avLst/>
          </a:prstGeom>
          <a:solidFill>
            <a:srgbClr val="7FC8C3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40690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수업은 바로 변경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12280" y="458114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제공되는 수업이 이전에 들었던 수업과 겹친다면 꼭 말씀해주세요. 확인 후 겹치지 않는 수업으로 바로 변경해드립니다.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C8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유핏토익은 학생 한 분 한 분의 수강 이력을 확인해 겹치지 않는 수업을 제공합니다.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유핏토익 1년 수업 운영 안내</dc:title>
  <dc:subject>PptxGenJS Presentation</dc:subject>
  <dc:creator>YOUFIT TOEIC</dc:creator>
  <cp:lastModifiedBy>YOUFIT TOEIC</cp:lastModifiedBy>
  <cp:revision>1</cp:revision>
  <dcterms:created xsi:type="dcterms:W3CDTF">2026-08-04T03:02:13Z</dcterms:created>
  <dcterms:modified xsi:type="dcterms:W3CDTF">2026-08-04T03:02:13Z</dcterms:modified>
</cp:coreProperties>
</file>